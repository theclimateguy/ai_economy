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56fa9d1d6491e" /><Relationship Type="http://schemas.openxmlformats.org/officeDocument/2006/relationships/extended-properties" Target="/docProps/app.xml" Id="R9da87da84ebb4f63" /><Relationship Type="http://schemas.openxmlformats.org/officeDocument/2006/relationships/officeDocument" Target="/ppt/presentation.xml" Id="Rb4a8435feb72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7ac8934c446d8"/>
  </p:sldMasterIdLst>
  <p:notesMasterIdLst>
    <p:notesMasterId xmlns:r="http://schemas.openxmlformats.org/officeDocument/2006/relationships" r:id="R62de4ac4273040dd"/>
  </p:notesMasterIdLst>
  <p:sldIdLst>
    <p:sldId xmlns:r="http://schemas.openxmlformats.org/officeDocument/2006/relationships" id="256" r:id="Rc4b63726e31643a1"/>
    <p:sldId xmlns:r="http://schemas.openxmlformats.org/officeDocument/2006/relationships" id="257" r:id="R796e0bafe1be4d7b"/>
    <p:sldId xmlns:r="http://schemas.openxmlformats.org/officeDocument/2006/relationships" id="258" r:id="R5c2dad653ab9489e"/>
    <p:sldId xmlns:r="http://schemas.openxmlformats.org/officeDocument/2006/relationships" id="259" r:id="R44bbfe6c0cef47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7ac8934c446d8" /><Relationship Type="http://schemas.openxmlformats.org/officeDocument/2006/relationships/theme" Target="/ppt/theme/theme1.xml" Id="R19a2395d27324020" /><Relationship Type="http://schemas.openxmlformats.org/officeDocument/2006/relationships/notesMaster" Target="/ppt/notesMasters/notesMaster1.xml" Id="R62de4ac4273040dd" /><Relationship Type="http://schemas.openxmlformats.org/officeDocument/2006/relationships/presProps" Target="/ppt/presProps.xml" Id="R979b4ccf76a74bd5" /><Relationship Type="http://schemas.openxmlformats.org/officeDocument/2006/relationships/viewProps" Target="/ppt/viewProps.xml" Id="Reb17b332c27a49ed" /><Relationship Type="http://schemas.openxmlformats.org/officeDocument/2006/relationships/tableStyles" Target="/ppt/tableStyles.xml" Id="Ra46daec72252447c" /><Relationship Type="http://schemas.openxmlformats.org/officeDocument/2006/relationships/slide" Target="/ppt/slides/slide1.xml" Id="Rc4b63726e31643a1" /><Relationship Type="http://schemas.openxmlformats.org/officeDocument/2006/relationships/slide" Target="/ppt/slides/slide2.xml" Id="R796e0bafe1be4d7b" /><Relationship Type="http://schemas.openxmlformats.org/officeDocument/2006/relationships/slide" Target="/ppt/slides/slide3.xml" Id="R5c2dad653ab9489e" /><Relationship Type="http://schemas.openxmlformats.org/officeDocument/2006/relationships/slide" Target="/ppt/slides/slide4.xml" Id="R44bbfe6c0cef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1e07692d18e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463a31c395422d" /><Relationship Type="http://schemas.openxmlformats.org/officeDocument/2006/relationships/notesMaster" Target="/ppt/notesMasters/notesMaster1.xml" Id="Rb873a38a975b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092cb0ab34f5e" /><Relationship Type="http://schemas.openxmlformats.org/officeDocument/2006/relationships/notesMaster" Target="/ppt/notesMasters/notesMaster1.xml" Id="R1c3a66bc048843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d45b991eb34531" /><Relationship Type="http://schemas.openxmlformats.org/officeDocument/2006/relationships/notesMaster" Target="/ppt/notesMasters/notesMaster1.xml" Id="Rf666a6aa8c634d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7f7acf95ea443c" /><Relationship Type="http://schemas.openxmlformats.org/officeDocument/2006/relationships/notesMaster" Target="/ppt/notesMasters/notesMaster1.xml" Id="R1fdf889ae9af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92ac848ca46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85798d48a474a01" /><Relationship Type="http://schemas.openxmlformats.org/officeDocument/2006/relationships/slideLayout" Target="/ppt/slideLayouts/slideLayout2.xml" Id="Rcb3a5c64b3384e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a5c64b3384e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512f6ca07a4738" /><Relationship Type="http://schemas.openxmlformats.org/officeDocument/2006/relationships/image" Target="/ppt/media/image.png" Id="R7c9941a8c4d34764" /><Relationship Type="http://schemas.openxmlformats.org/officeDocument/2006/relationships/notesSlide" Target="/ppt/notesSlides/notesSlide1.xml" Id="R16f91a129511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2b12f36f244d2" /><Relationship Type="http://schemas.openxmlformats.org/officeDocument/2006/relationships/notesSlide" Target="/ppt/notesSlides/notesSlide2.xml" Id="R8545eee2c71d41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e8a833a2c4201" /><Relationship Type="http://schemas.openxmlformats.org/officeDocument/2006/relationships/image" Target="/ppt/media/image2.png" Id="R40113990f1d545c3" /><Relationship Type="http://schemas.openxmlformats.org/officeDocument/2006/relationships/notesSlide" Target="/ppt/notesSlides/notesSlide3.xml" Id="Rdcad722d2b9640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114d9690d421a" /><Relationship Type="http://schemas.openxmlformats.org/officeDocument/2006/relationships/notesSlide" Target="/ppt/notesSlides/notesSlide4.xml" Id="R47e61a6afdb543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1974B-22A3-4787-9883-EA8AEEF2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8EA24-C88F-4AAA-86E8-60984A84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F4E79"/>
                </a:solidFill>
              </a:defRPr>
            </a:pPr>
            <a:r>
              <a:rPr sz="975" b="1">
                <a:solidFill>
                  <a:srgbClr val="1F4E79"/>
                </a:solidFill>
              </a:rPr>
              <a:t>ГРАДИЕНТ РИСКА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47531-E02C-477F-A3FE-5DBA4A2A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81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Монополия внимания: риск перехвата клиентского канала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941a8c4d34764"/>
          <a:stretch xmlns:a="http://schemas.openxmlformats.org/drawingml/2006/main"/>
        </p:blipFill>
        <p:spPr>
          <a:xfrm xmlns:a="http://schemas.openxmlformats.org/drawingml/2006/main">
            <a:off x="552450" y="1676400"/>
            <a:ext cx="7239000" cy="430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FDF1B-CA39-4F4F-9277-19637BE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48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9468-3685-4E93-8996-11FDA2C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Как читать график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F504A-52A5-4E9B-975A-A8FC670E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3622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X: способность встроиться в AI/platform stack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Y: зависимость от поиска, рекомендаций и discovery channel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Цвет: композитный риск 0-100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Размер точки: масштаб ВДС отрасли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C9F38-1273-4CDF-8F3F-16791D3A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362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B91C1C"/>
                </a:solidFill>
              </a:defRPr>
            </a:pPr>
            <a:r>
              <a:rPr sz="1500" b="1">
                <a:solidFill>
                  <a:srgbClr val="B91C1C"/>
                </a:solidFill>
              </a:rPr>
              <a:t>Красная зона справа-вверху: отрасли, которым важен поиск и которые легко подключить к платформе.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DEA84-9301-418E-971D-FACE883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AI economy | attention monopoly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363A0-30C4-43A5-A8F0-08CF676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04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822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8C367-E14F-447D-96CD-9A0EDEA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3A390-9F90-4186-B324-C8EBDC43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F4E79"/>
                </a:solidFill>
              </a:defRPr>
            </a:pPr>
            <a:r>
              <a:rPr sz="975" b="1">
                <a:solidFill>
                  <a:srgbClr val="1F4E79"/>
                </a:solidFill>
              </a:rPr>
              <a:t>ЛОГИКА ОСЕЙ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F314C-40A6-4E83-85B0-859FBEF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81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Риск теперь растет при высокой зависимости от внимания и высокой подключаемости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82473-0A28-4F5D-BABE-3FAA9BBA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8E6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2B02-0837-405B-B94B-2F938C52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D: attention 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28F94-8A01-4006-B943-B678AD2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38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Высокий D означает, что клиентский выбор начинается с поиска, рекомендаций, сравнения, маркетплейса или карты.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DE7D0-2C8F-447F-870D-B533C64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EBD1-7DA6-43C1-893F-63C3DDE3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I: integration capacity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A8056-C09D-4CA3-B46D-C12C214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381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Высокий I означает, что отрасль можно быстро завести в AI-интерфейс через API, каталоги, delivery, booking или lead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68CA6-5F86-4DAE-880E-6C94DC2F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EA3E9-10A0-484E-852C-2DC66B8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Risk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2B87F-8DCF-4253-B177-87459204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28875"/>
            <a:ext cx="2381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Минимальная математика: риск это взвешенная сумма D, I, markup, SME vulnerability, gatekeeping и adoption к 2035.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644E3-A05B-4E04-BB95-F92C34C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287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Главная смена знака: в риск-градиенте используется I, а не 1-I. Поэтому самый опасный сектор не тот, кто плохо готов к цифре, а тот, кого AI-платформа может быстро встроить и отранжировать.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D0EDD-A873-4971-BCDC-DB6FB77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AI economy | attention monopoly 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D979C-DA38-408C-AACB-167CB54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04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4682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5FCEA6-9548-4D48-A4B6-4BBB5CA2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FC1C0-E91C-4070-BD22-347BBC16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F4E79"/>
                </a:solidFill>
              </a:defRPr>
            </a:pPr>
            <a:r>
              <a:rPr sz="975" b="1">
                <a:solidFill>
                  <a:srgbClr val="1F4E79"/>
                </a:solidFill>
              </a:rPr>
              <a:t>КАЛИБРОВКА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3FDFA-2C08-4AE1-8F4D-A0577935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81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После правки торговля и ИТ уходят вправо-вверх, добыча и стройка влево-вниз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13990f1d545c3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581025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8F0E2-DB17-48D6-A899-8E8D8EE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D75BB-DE26-4772-852F-769441F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90675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Правый верхний кластер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12DF3-5628-4745-9A64-0976658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57375"/>
            <a:ext cx="382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ИТ и связь, торговля не едой и торговля едой: высокий поиск/discovery плюс высокая platform-connectability.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3E295-DC2F-49DF-B1B3-7190BC48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A015B-ADB7-4281-8BA5-674A6CF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Средний слой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92FF2-815A-49F0-84DF-A4E1592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382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Финансы и проф. услуги: высокий risk score из-за gatekeeping, lead allocation и роли default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6A269-439B-4950-9AE3-585F5C66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67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E84FC-C557-4247-9EB7-54CD90AF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86175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Левый нижний кластер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43709-1B71-4D7B-9E82-3ABD1D48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52875"/>
            <a:ext cx="382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Добыча и строительство: B2B/project-based спрос, низкая зависимость от consumer search и слабая стандартизация под единый AI-интерфейс.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493E5-356E-4C1A-9F47-41BD91D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096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Итог: график теперь показывает не цифровую готовность сама по себе, а риск перехвата клиентского канала платформой.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0E3DD-1BFB-4AE3-AA61-0A3CF7A2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AI economy | attention monopoly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86447-F15D-4381-959E-A13D5750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04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9314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F4D1B-0AC7-41A6-A2C4-F8E9327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85EA6-75F1-4382-8333-6842676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F4E79"/>
                </a:solidFill>
              </a:defRPr>
            </a:pPr>
            <a:r>
              <a:rPr sz="975" b="1">
                <a:solidFill>
                  <a:srgbClr val="1F4E79"/>
                </a:solidFill>
              </a:rPr>
              <a:t>ДОПУЩЕНИЯ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7AA3F-C1CE-418B-A004-D430002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810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Что именно заложено в этот сценарный слой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0D714-FC75-43C3-993F-ECFBB89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2FBA3-2BFC-42D4-9DC0-34696033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73A96-259C-409A-8F15-FE5D9BD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049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Единая поверхность доступа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AD953-455F-455A-942D-A57546C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885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AI-ассистент становится default interface для поиска поставщиков, товаров и услуг.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85409-1BCE-4FDF-8F9E-906B985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C1E64-446F-4EB8-AC6C-8AC0DC5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74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8522C-8F85-47A8-8EA3-20852C6D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Платформенное ранжирование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6FB00-3F6A-4061-98B4-78BB7127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885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Риск связан не только с комиссией, но и с тем, кто получает выдачу, lead flow и рекомендацию по умолчанию.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9306C-A850-492C-A122-73EF441B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2B810-A861-4518-B69B-71B95E4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A292A-9322-4BD3-B2E1-E0819350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385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Торговля и ИТ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9CDD3-6450-4265-83D6-1DCBAB11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885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Сектора одновременно зависят от discovery и хорошо подключаются через каталоги, API, delivery, marketplace rails.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57774-B4C2-4968-9987-09DAC1FD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8B577-3055-42A5-94D6-191D84E4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73475-BDC5-4AA1-83FB-9E03E88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053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Добыча и стройка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3D4E9-732F-4B87-B599-0FA9612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57775"/>
            <a:ext cx="885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Спрос менее consumer-search-driven, больше B2B/project based, поэтому они должны лежать левее и ниже.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4CA26-C31D-4A6D-91E6-52E2376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19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Формула оставлена как компактный weighted score: R = f(D, I, markup, SME, gatekeeping, adoption). Детальная параметризация хранится в YAML и CSV слоя attention_monopoly.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0454F-C383-4563-A0AA-BF21D4AD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AI economy | attention monopoly 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B6DEA-D3B0-4872-AB2D-C3588C7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15100"/>
            <a:ext cx="304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4B5563"/>
                </a:solidFill>
              </a:defRPr>
            </a:pPr>
            <a:r>
              <a:rPr sz="750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6339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2026-05-22T10:57:25.6800000Z</dcterms:created>
  <dcterms:modified xsi:type="dcterms:W3CDTF">2026-05-22T10:57:25.6800000Z</dcterms:modified>
</coreProperties>
</file>